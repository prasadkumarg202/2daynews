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3009900"/>
            <a:ext cx="17145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11B22">
                  <a:alpha val="100000"/>
                </a:srgbClr>
              </a:gs>
              <a:gs pos="100000">
                <a:srgbClr val="E8A02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58140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9000" b="1" spc="-270" kern="0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tap2</a:t>
            </a:r>
            <a:pPr algn="l" indent="0" marL="0">
              <a:lnSpc>
                <a:spcPct val="90909"/>
              </a:lnSpc>
              <a:buNone/>
            </a:pPr>
            <a:r>
              <a:rPr lang="en-US" sz="9000" b="1" spc="-270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news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5105400"/>
            <a:ext cx="117729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3300" b="1" dirty="0">
                <a:solidFill>
                  <a:srgbClr val="C8CFDD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news of your district, in your language — powered by AI, priced to win.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" y="6915150"/>
            <a:ext cx="18021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C97A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Investor pitch ·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4716125" cy="1379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71"/>
              </a:lnSpc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Vernacular India gets diluted national feeds, not its own news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366691"/>
            <a:ext cx="5257800" cy="2927350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7950" y="3792141"/>
            <a:ext cx="4847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E11B22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90%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7950" y="4668441"/>
            <a:ext cx="45391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79"/>
              </a:lnSpc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 new internet users prefer an Indian language over English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100" y="3366691"/>
            <a:ext cx="5257800" cy="2927350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0550" y="3792141"/>
            <a:ext cx="4847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E11B22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1 feed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940550" y="4668441"/>
            <a:ext cx="453910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79"/>
              </a:lnSpc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Aggregators mix Tamil politics into Telugu feeds — relevance breaks at the state border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77700" y="3366691"/>
            <a:ext cx="5257800" cy="2927350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503151" y="3792141"/>
            <a:ext cx="4847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E11B22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₹100s Cr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2503151" y="4668441"/>
            <a:ext cx="453910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79"/>
              </a:lnSpc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burned yearly on human curation and content licensing by incumbents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MARKET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Half a billion vernacular news readers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768600"/>
            <a:ext cx="54483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59"/>
              </a:lnSpc>
              <a:buNone/>
            </a:pPr>
            <a:r>
              <a:rPr lang="en-US" sz="8250" b="1" spc="-247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950M+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952500" y="3968750"/>
            <a:ext cx="5101590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Indian internet users, growing fastest in tier-2/3 towns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667500" y="2768600"/>
            <a:ext cx="54483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59"/>
              </a:lnSpc>
              <a:buNone/>
            </a:pPr>
            <a:r>
              <a:rPr lang="en-US" sz="8250" b="1" spc="-247" kern="0" dirty="0">
                <a:solidFill>
                  <a:srgbClr val="E11B22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~500M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6667500" y="3968750"/>
            <a:ext cx="5101590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consume news digitally in Indian languages — our addressable base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382500" y="2768600"/>
            <a:ext cx="54483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59"/>
              </a:lnSpc>
              <a:buNone/>
            </a:pPr>
            <a:r>
              <a:rPr lang="en-US" sz="8250" b="1" spc="-247" kern="0" dirty="0">
                <a:solidFill>
                  <a:srgbClr val="C9861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₹40K Cr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12382500" y="3968750"/>
            <a:ext cx="5101590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Indian digital ad market, with vernacular the fastest-growing slice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8750300"/>
            <a:ext cx="180213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Dailyhunt alone reaches 300M+ MAU — the demand is proven; the economics are not.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COMPETITION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Big revenues, bigger losses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743200"/>
            <a:ext cx="35623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VerSe </a:t>
            </a:r>
            <a:pPr algn="l" indent="0" marL="0">
              <a:buNone/>
            </a:pPr>
            <a:r>
              <a:rPr lang="en-US" sz="1800" dirty="0">
                <a:solidFill>
                  <a:srgbClr val="64708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(Dailyhunt + Josh)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495800" y="2654300"/>
            <a:ext cx="9105900" cy="533400"/>
          </a:xfrm>
          <a:prstGeom prst="roundRect">
            <a:avLst>
              <a:gd name="adj" fmla="val 17857"/>
            </a:avLst>
          </a:prstGeom>
          <a:solidFill>
            <a:srgbClr val="E9ECF2"/>
          </a:solidFill>
          <a:ln/>
        </p:spPr>
      </p:sp>
      <p:sp>
        <p:nvSpPr>
          <p:cNvPr id="6" name="Shape 4"/>
          <p:cNvSpPr/>
          <p:nvPr/>
        </p:nvSpPr>
        <p:spPr>
          <a:xfrm>
            <a:off x="4495800" y="2654300"/>
            <a:ext cx="9105900" cy="533400"/>
          </a:xfrm>
          <a:prstGeom prst="rect">
            <a:avLst/>
          </a:prstGeom>
          <a:solidFill>
            <a:srgbClr val="1E2C49"/>
          </a:solidFill>
          <a:ln/>
        </p:spPr>
      </p:sp>
      <p:sp>
        <p:nvSpPr>
          <p:cNvPr id="7" name="Text 5"/>
          <p:cNvSpPr/>
          <p:nvPr/>
        </p:nvSpPr>
        <p:spPr>
          <a:xfrm>
            <a:off x="4724400" y="2759075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₹1,930 Cr revenue · FY25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906500" y="2746375"/>
            <a:ext cx="37719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52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–₹738 Cr EBITDA burn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3543300"/>
            <a:ext cx="35623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Inshorts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495800" y="3454400"/>
            <a:ext cx="9105900" cy="533400"/>
          </a:xfrm>
          <a:prstGeom prst="roundRect">
            <a:avLst>
              <a:gd name="adj" fmla="val 17857"/>
            </a:avLst>
          </a:prstGeom>
          <a:solidFill>
            <a:srgbClr val="E9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4495800" y="3454400"/>
            <a:ext cx="3238500" cy="533400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4400" y="3559175"/>
            <a:ext cx="2288351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₹181 Cr · FY24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906500" y="3546475"/>
            <a:ext cx="37719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52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–₹228 Cr net loss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4343400"/>
            <a:ext cx="35623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Way2News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4495800" y="4254500"/>
            <a:ext cx="9105900" cy="533400"/>
          </a:xfrm>
          <a:prstGeom prst="roundRect">
            <a:avLst>
              <a:gd name="adj" fmla="val 17857"/>
            </a:avLst>
          </a:prstGeom>
          <a:solidFill>
            <a:srgbClr val="E9EC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495800" y="4254500"/>
            <a:ext cx="3048000" cy="533400"/>
          </a:xfrm>
          <a:prstGeom prst="rect">
            <a:avLst/>
          </a:prstGeom>
          <a:solidFill>
            <a:srgbClr val="8C97AC"/>
          </a:solidFill>
          <a:ln/>
        </p:spPr>
      </p:sp>
      <p:sp>
        <p:nvSpPr>
          <p:cNvPr id="17" name="Text 15"/>
          <p:cNvSpPr/>
          <p:nvPr/>
        </p:nvSpPr>
        <p:spPr>
          <a:xfrm>
            <a:off x="4724400" y="4359275"/>
            <a:ext cx="2124859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₹40 Cr · FY24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906500" y="4346575"/>
            <a:ext cx="37719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52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–₹57 Cr loss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9023350"/>
            <a:ext cx="180213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 filings &amp; press reports (Entrackr, Inc42), FY24–FY25. VerSe has raised over $2B to get here; Inshorts $165M+.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GAP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57162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Why the incumbents lose money on every reader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92400"/>
            <a:ext cx="8058150" cy="2036961"/>
          </a:xfrm>
          <a:prstGeom prst="roundRect">
            <a:avLst>
              <a:gd name="adj" fmla="val 7482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9850" y="3079750"/>
            <a:ext cx="801179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Human curation at scale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9850" y="3568700"/>
            <a:ext cx="750195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0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Thousands of editors and licensing deals — content cost grows with every language added.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77350" y="2692400"/>
            <a:ext cx="8058150" cy="2036961"/>
          </a:xfrm>
          <a:prstGeom prst="roundRect">
            <a:avLst>
              <a:gd name="adj" fmla="val 7482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4700" y="3079750"/>
            <a:ext cx="801179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Weak geo-relevance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64700" y="3568700"/>
            <a:ext cx="750195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0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 ≠ location in their feeds. A Lucknow reader and a Bhopal reader see the same Hindi feed.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996061"/>
            <a:ext cx="8058150" cy="2036961"/>
          </a:xfrm>
          <a:prstGeom prst="roundRect">
            <a:avLst>
              <a:gd name="adj" fmla="val 7482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9850" y="5383411"/>
            <a:ext cx="801179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News-only sessions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39850" y="5872361"/>
            <a:ext cx="750195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0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reason to open the app. No live utilities that pull users back five times a day.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77350" y="4996061"/>
            <a:ext cx="8058150" cy="2036961"/>
          </a:xfrm>
          <a:prstGeom prst="roundRect">
            <a:avLst>
              <a:gd name="adj" fmla="val 7482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64700" y="5383411"/>
            <a:ext cx="801179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Infra built pre-AI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64700" y="5872361"/>
            <a:ext cx="750195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0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Heavy fixed-cost stacks. Ours was designed AI-first on serverless — cost follows usage.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0309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PRODUCT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9653778" cy="1379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71"/>
              </a:lnSpc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One app, isolated language worlds, GPS-deep local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176191"/>
            <a:ext cx="40312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11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50876" y="3176191"/>
            <a:ext cx="9140451" cy="869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Pick తెలుగు — the entire app becomes AP/Telangana: politics, Tollywood, district news, jobs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4262041"/>
            <a:ext cx="40312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11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50876" y="4255691"/>
            <a:ext cx="914045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Hindi follows GPS: Lucknow → UP feed; Bhopal → MP feed. PostGIS point-in-polygon, 600+ districts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5284391"/>
            <a:ext cx="40312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11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50876" y="5284391"/>
            <a:ext cx="9140451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National news (PM, ISRO, budget) shared across all languages — nothing else leaks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6306741"/>
            <a:ext cx="40312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11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50876" y="6306741"/>
            <a:ext cx="9140451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60-word Quick Read swipe mode + voice summaries for commute-time reading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306300" y="2933700"/>
            <a:ext cx="3810000" cy="441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66750" dist="285750" dir="5400000">
              <a:srgbClr val="0C142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592050" y="3276600"/>
            <a:ext cx="35623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11B22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tap2</a:t>
            </a:r>
            <a:pPr algn="l" indent="0" marL="0">
              <a:buNone/>
            </a:pPr>
            <a:r>
              <a:rPr lang="en-US" sz="22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news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592050" y="3822700"/>
            <a:ext cx="3238500" cy="647700"/>
          </a:xfrm>
          <a:prstGeom prst="roundRect">
            <a:avLst>
              <a:gd name="adj" fmla="val 17647"/>
            </a:avLst>
          </a:prstGeom>
          <a:solidFill>
            <a:srgbClr val="FEF1F0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0" y="3975100"/>
            <a:ext cx="2992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తెలుగు · Vijayawada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592050" y="4603750"/>
            <a:ext cx="3238500" cy="628650"/>
          </a:xfrm>
          <a:prstGeom prst="roundRect">
            <a:avLst>
              <a:gd name="adj" fmla="val 18182"/>
            </a:avLst>
          </a:prstGeom>
          <a:solidFill>
            <a:srgbClr val="F1EC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3500" y="4756150"/>
            <a:ext cx="29927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మీ వార్తలు · District · Cinema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592050" y="5365750"/>
            <a:ext cx="3238500" cy="876300"/>
          </a:xfrm>
          <a:prstGeom prst="roundRect">
            <a:avLst>
              <a:gd name="adj" fmla="val 13043"/>
            </a:avLst>
          </a:prstGeom>
          <a:solidFill>
            <a:srgbClr val="F1ECE3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3500" y="5518150"/>
            <a:ext cx="29927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 ₹71,240 · IND 286/4 · 34°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592050" y="6375400"/>
            <a:ext cx="3238500" cy="635000"/>
          </a:xfrm>
          <a:prstGeom prst="roundRect">
            <a:avLst>
              <a:gd name="adj" fmla="val 18000"/>
            </a:avLst>
          </a:prstGeom>
          <a:solidFill>
            <a:srgbClr val="0C1424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0" y="652780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⚡ క్విక్ రీడ్ — swipe news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DAILY-HABIT MOAT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Five live reasons to open us every day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11400"/>
            <a:ext cx="13735050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News alone is a 1-session habit. Live utilities make tap2news a 5-session habit — that's ad inventory incumbents don't have.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619500"/>
            <a:ext cx="3093641" cy="2638822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550" y="3930650"/>
            <a:ext cx="133350" cy="133350"/>
          </a:xfrm>
          <a:prstGeom prst="ellipse">
            <a:avLst/>
          </a:prstGeom>
          <a:solidFill>
            <a:srgbClr val="2477C9"/>
          </a:solidFill>
          <a:ln/>
        </p:spPr>
      </p:sp>
      <p:sp>
        <p:nvSpPr>
          <p:cNvPr id="7" name="Text 5"/>
          <p:cNvSpPr/>
          <p:nvPr/>
        </p:nvSpPr>
        <p:spPr>
          <a:xfrm>
            <a:off x="1225550" y="4235450"/>
            <a:ext cx="280229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Live jobs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5550" y="4667250"/>
            <a:ext cx="262396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Govt + private vacancies by district, deadline alerts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74741" y="3619500"/>
            <a:ext cx="3093740" cy="2638822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7791" y="3930650"/>
            <a:ext cx="133350" cy="133350"/>
          </a:xfrm>
          <a:prstGeom prst="ellipse">
            <a:avLst/>
          </a:prstGeom>
          <a:solidFill>
            <a:srgbClr val="EE7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47791" y="4235450"/>
            <a:ext cx="280240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Live astrology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47791" y="4667250"/>
            <a:ext cx="262406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panchang, rahu kalam, horoscope — a morning ritual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97080" y="3619500"/>
            <a:ext cx="3093740" cy="2638822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70131" y="3930650"/>
            <a:ext cx="133350" cy="133350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15" name="Text 13"/>
          <p:cNvSpPr/>
          <p:nvPr/>
        </p:nvSpPr>
        <p:spPr>
          <a:xfrm>
            <a:off x="7870131" y="4235450"/>
            <a:ext cx="280240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Live cricket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70131" y="4667250"/>
            <a:ext cx="262406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Ball-by-ball scores, 8-second cache — IPL season = peak DAU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19421" y="3619500"/>
            <a:ext cx="3093740" cy="2638822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192470" y="3930650"/>
            <a:ext cx="133350" cy="13335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92470" y="4235450"/>
            <a:ext cx="280240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Health tips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92470" y="4667250"/>
            <a:ext cx="262406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quizzes + doctor-verified facts in local language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241761" y="3619500"/>
            <a:ext cx="3093740" cy="2638822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514811" y="3930650"/>
            <a:ext cx="133350" cy="13335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14514811" y="4235450"/>
            <a:ext cx="280240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Gold &amp; markets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514811" y="4667250"/>
            <a:ext cx="262406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22K/24K by city, Sensex/Nifty — checked before every purchase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ENGAGEMENT ENGINE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Every few cards, the feed asks the reader to 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92400"/>
            <a:ext cx="3895725" cy="2642791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0800" y="3060700"/>
            <a:ext cx="34750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Polls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20800" y="3530600"/>
            <a:ext cx="3253899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98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One-tap votes on politics &amp; cricket — 31K votes on a single match poll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14925" y="2692400"/>
            <a:ext cx="3895725" cy="2642791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3225" y="3060700"/>
            <a:ext cx="34750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Quizzes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83225" y="3530600"/>
            <a:ext cx="3253899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98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&amp; cinema trivia with instant feedback — shareable results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50" y="2692400"/>
            <a:ext cx="3895725" cy="2642791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45650" y="3060700"/>
            <a:ext cx="34750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Quick Read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45650" y="3530600"/>
            <a:ext cx="3253899" cy="1474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98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Swipeable 60-word stories — the snackable format that made Inshorts, in every language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39775" y="2692400"/>
            <a:ext cx="3895725" cy="2642791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808076" y="3060700"/>
            <a:ext cx="34750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Citizen reports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808076" y="3530600"/>
            <a:ext cx="3253899" cy="1474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98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District correspondents + reader tips, AI-moderated — hyperlocal coverage no wire service has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5868591"/>
            <a:ext cx="18021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like, vote and dwell feeds the recommendation engine — personalization compounds.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COST WEAPON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A newsroom that costs ₹0.09 per story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11400"/>
            <a:ext cx="13735050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structured Gemini call rewrites, classifies, geo-tags, SEO-optimizes and safety-scores each story. Editors only touch what the fake-news gate flags.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695700"/>
            <a:ext cx="2551013" cy="1181100"/>
          </a:xfrm>
          <a:prstGeom prst="roundRect">
            <a:avLst>
              <a:gd name="adj" fmla="val 11290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1750" y="3968750"/>
            <a:ext cx="1929044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4203A"/>
                </a:highlight>
                <a:latin typeface="Anek Latin" pitchFamily="34" charset="0"/>
                <a:ea typeface="Anek Latin" pitchFamily="34" charset="-122"/>
                <a:cs typeface="Anek Latin" pitchFamily="34" charset="-120"/>
              </a:rPr>
              <a:t>Collect </a:t>
            </a:r>
            <a:pPr algn="l" indent="0" marL="0">
              <a:buNone/>
            </a:pPr>
            <a:r>
              <a:rPr lang="en-US" sz="1800" dirty="0">
                <a:solidFill>
                  <a:srgbClr val="8C97A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1,200+ free sources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94013" y="4032250"/>
            <a:ext cx="405011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566B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213324" y="3695700"/>
            <a:ext cx="2631976" cy="1181100"/>
          </a:xfrm>
          <a:prstGeom prst="roundRect">
            <a:avLst>
              <a:gd name="adj" fmla="val 11290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574" y="3968750"/>
            <a:ext cx="2012435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4203A"/>
                </a:highlight>
                <a:latin typeface="Anek Latin" pitchFamily="34" charset="0"/>
                <a:ea typeface="Anek Latin" pitchFamily="34" charset="-122"/>
                <a:cs typeface="Anek Latin" pitchFamily="34" charset="-120"/>
              </a:rPr>
              <a:t>Dedup </a:t>
            </a:r>
            <a:pPr algn="l" indent="0" marL="0">
              <a:buNone/>
            </a:pPr>
            <a:r>
              <a:rPr lang="en-US" sz="1800" dirty="0">
                <a:solidFill>
                  <a:srgbClr val="8C97A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N publishers → 1 call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035800" y="4032250"/>
            <a:ext cx="405011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566B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555111" y="3702050"/>
            <a:ext cx="3032919" cy="1168400"/>
          </a:xfrm>
          <a:prstGeom prst="roundRect">
            <a:avLst>
              <a:gd name="adj" fmla="val 11413"/>
            </a:avLst>
          </a:prstGeom>
          <a:solidFill>
            <a:srgbClr val="E1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7898011" y="3968750"/>
            <a:ext cx="2438107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E11B22"/>
                </a:highlight>
                <a:latin typeface="Anek Latin" pitchFamily="34" charset="0"/>
                <a:ea typeface="Anek Latin" pitchFamily="34" charset="-122"/>
                <a:cs typeface="Anek Latin" pitchFamily="34" charset="-120"/>
              </a:rPr>
              <a:t>Gemini rewrite </a:t>
            </a:r>
            <a:pPr algn="l" indent="0" marL="0">
              <a:buNone/>
            </a:pPr>
            <a:r>
              <a:rPr lang="en-US" sz="1800" dirty="0">
                <a:solidFill>
                  <a:srgbClr val="FFD7D5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100% original, facts kept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778530" y="4032250"/>
            <a:ext cx="405011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566B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297841" y="3695700"/>
            <a:ext cx="2772172" cy="1181100"/>
          </a:xfrm>
          <a:prstGeom prst="roundRect">
            <a:avLst>
              <a:gd name="adj" fmla="val 11290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47091" y="3968750"/>
            <a:ext cx="2156837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4203A"/>
                </a:highlight>
                <a:latin typeface="Anek Latin" pitchFamily="34" charset="0"/>
                <a:ea typeface="Anek Latin" pitchFamily="34" charset="-122"/>
                <a:cs typeface="Anek Latin" pitchFamily="34" charset="-120"/>
              </a:rPr>
              <a:t>Fake gate </a:t>
            </a:r>
            <a:pPr algn="l" indent="0" marL="0">
              <a:buNone/>
            </a:pPr>
            <a:r>
              <a:rPr lang="en-US" sz="1800" dirty="0">
                <a:solidFill>
                  <a:srgbClr val="8C97A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&gt;0.5 → human review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260513" y="4032250"/>
            <a:ext cx="405011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566B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4779823" y="3695700"/>
            <a:ext cx="2082998" cy="1181100"/>
          </a:xfrm>
          <a:prstGeom prst="roundRect">
            <a:avLst>
              <a:gd name="adj" fmla="val 11290"/>
            </a:avLst>
          </a:prstGeom>
          <a:solidFill>
            <a:srgbClr val="14203A"/>
          </a:solidFill>
          <a:ln w="6350">
            <a:solidFill>
              <a:srgbClr val="1E2C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29073" y="3968750"/>
            <a:ext cx="1460698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4203A"/>
                </a:highlight>
                <a:latin typeface="Anek Latin" pitchFamily="34" charset="0"/>
                <a:ea typeface="Anek Latin" pitchFamily="34" charset="-122"/>
                <a:cs typeface="Anek Latin" pitchFamily="34" charset="-120"/>
              </a:rPr>
              <a:t>Publish </a:t>
            </a:r>
            <a:pPr algn="l" indent="0" marL="0">
              <a:buNone/>
            </a:pPr>
            <a:r>
              <a:rPr lang="en-US" sz="1800" dirty="0">
                <a:solidFill>
                  <a:srgbClr val="8C97A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+ push + social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8140700"/>
            <a:ext cx="349217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000" b="1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16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952500" y="8997950"/>
            <a:ext cx="3492173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97A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stages, fully traced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079703" y="8140700"/>
            <a:ext cx="354172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000" b="1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~5 min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5079703" y="8997950"/>
            <a:ext cx="3541722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97A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source-to-published latency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251950" y="8140700"/>
            <a:ext cx="43110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000" b="1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0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9251950" y="8997950"/>
            <a:ext cx="431105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97A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editors needed per new language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TECHNOLOGY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Serverless stack that scales to 50M without a re-platform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92400"/>
            <a:ext cx="3895725" cy="2166144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01750" y="3041650"/>
            <a:ext cx="351694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Cloudflare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01750" y="3473450"/>
            <a:ext cx="329314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18"/>
              </a:lnSpc>
              <a:buNone/>
            </a:pPr>
            <a:r>
              <a:rPr lang="en-US" sz="1875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Pages hosting, R2 media, edge cache — feed served from 300+ PoPs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114925" y="2692400"/>
            <a:ext cx="3895725" cy="2166144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64175" y="3041650"/>
            <a:ext cx="351694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Supabase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64175" y="3473450"/>
            <a:ext cx="329314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18"/>
              </a:lnSpc>
              <a:buNone/>
            </a:pPr>
            <a:r>
              <a:rPr lang="en-US" sz="1875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 + PostGIS geo-fencing, RLS security, Edge Functions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77350" y="2692400"/>
            <a:ext cx="3895725" cy="2166144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26600" y="3041650"/>
            <a:ext cx="351694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Redis + BullMQ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26600" y="3473450"/>
            <a:ext cx="329314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18"/>
              </a:lnSpc>
              <a:buNone/>
            </a:pPr>
            <a:r>
              <a:rPr lang="en-US" sz="1875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94% cache hit on feeds, queued ingestion &amp; push fan-out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3439775" y="2692400"/>
            <a:ext cx="3895725" cy="2166144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6350">
            <a:solidFill>
              <a:srgbClr val="E9ECF2"/>
            </a:solidFill>
            <a:prstDash val="solid"/>
          </a:ln>
          <a:effectLst>
            <a:outerShdw sx="100000" sy="100000" kx="0" ky="0" algn="bl" rotWithShape="0" blurRad="19050" dist="9525" dir="5400000">
              <a:srgbClr val="0C1424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89026" y="3041650"/>
            <a:ext cx="351694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Gemini 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89026" y="3473450"/>
            <a:ext cx="329314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18"/>
              </a:lnSpc>
              <a:buNone/>
            </a:pPr>
            <a:r>
              <a:rPr lang="en-US" sz="1875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entire editorial engine — rewrite, classify, verify, localize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52500" y="5391944"/>
            <a:ext cx="21025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96 ms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52500" y="6172994"/>
            <a:ext cx="2102594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 p95 latency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816449" y="5391944"/>
            <a:ext cx="44576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1000:1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3816449" y="6172994"/>
            <a:ext cx="4457631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read:write ratio — built for caching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821341" y="5391944"/>
            <a:ext cx="52947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6"/>
              </a:lnSpc>
              <a:buNone/>
            </a:pPr>
            <a:r>
              <a:rPr lang="en-US" sz="5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~₹0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8821341" y="6172994"/>
            <a:ext cx="5294739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infra at launch — cost follows usage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MONETIZATION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Five revenue streams from day one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860675"/>
            <a:ext cx="398145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Programmatic ads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838700" y="2819400"/>
            <a:ext cx="6324600" cy="41910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/>
        </p:spPr>
      </p:sp>
      <p:sp>
        <p:nvSpPr>
          <p:cNvPr id="6" name="Shape 4"/>
          <p:cNvSpPr/>
          <p:nvPr/>
        </p:nvSpPr>
        <p:spPr>
          <a:xfrm>
            <a:off x="4838700" y="2819400"/>
            <a:ext cx="2909292" cy="419100"/>
          </a:xfrm>
          <a:prstGeom prst="roundRect">
            <a:avLst>
              <a:gd name="adj" fmla="val 50000"/>
            </a:avLst>
          </a:prstGeom>
          <a:solidFill>
            <a:srgbClr val="E11B2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2692400"/>
            <a:ext cx="392430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AdSense/Ad Manager, feed + article slots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3743325"/>
            <a:ext cx="398145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Hyperlocal ads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38700" y="3702050"/>
            <a:ext cx="6324600" cy="41910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/>
        </p:spPr>
      </p:sp>
      <p:sp>
        <p:nvSpPr>
          <p:cNvPr id="10" name="Shape 8"/>
          <p:cNvSpPr/>
          <p:nvPr/>
        </p:nvSpPr>
        <p:spPr>
          <a:xfrm>
            <a:off x="4838700" y="3702050"/>
            <a:ext cx="1391345" cy="419100"/>
          </a:xfrm>
          <a:prstGeom prst="roundRect">
            <a:avLst>
              <a:gd name="adj" fmla="val 50000"/>
            </a:avLst>
          </a:prstGeom>
          <a:solidFill>
            <a:srgbClr val="D6338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0" y="3575050"/>
            <a:ext cx="392430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District businesses — inventory only we have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4625975"/>
            <a:ext cx="398145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tap2news Plus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38700" y="4584700"/>
            <a:ext cx="6324600" cy="41910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8700" y="4584700"/>
            <a:ext cx="1075134" cy="419100"/>
          </a:xfrm>
          <a:prstGeom prst="roundRect">
            <a:avLst>
              <a:gd name="adj" fmla="val 50000"/>
            </a:avLst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0" y="4457700"/>
            <a:ext cx="392430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₹49/mo — ad-free, premium astrology &amp; jobs alerts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5381625"/>
            <a:ext cx="398145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Sponsored stories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38700" y="5340350"/>
            <a:ext cx="6324600" cy="41910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838700" y="5340350"/>
            <a:ext cx="569119" cy="419100"/>
          </a:xfrm>
          <a:prstGeom prst="roundRect">
            <a:avLst>
              <a:gd name="adj" fmla="val 50000"/>
            </a:avLst>
          </a:prstGeom>
          <a:solidFill>
            <a:srgbClr val="2477C9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5381625"/>
            <a:ext cx="41910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Clearly-labelled native content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" y="6137275"/>
            <a:ext cx="398145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E-paper &amp; listings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38700" y="6096000"/>
            <a:ext cx="6324600" cy="41910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838700" y="6096000"/>
            <a:ext cx="379413" cy="419100"/>
          </a:xfrm>
          <a:prstGeom prst="ellipse">
            <a:avLst/>
          </a:prstGeom>
          <a:solidFill>
            <a:srgbClr val="0E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0" y="5969000"/>
            <a:ext cx="392430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Subscriptions + local business listings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" y="8972550"/>
            <a:ext cx="18021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470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5-session daily habit × hyperlocal targeting = RPM incumbents can't match at our cost base.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1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FFD7D5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WHY WE WIN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57162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Their content cost grows with scale. Ours doesn't.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768600"/>
            <a:ext cx="5232400" cy="4205883"/>
          </a:xfrm>
          <a:prstGeom prst="roundRect">
            <a:avLst>
              <a:gd name="adj" fmla="val 452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225800"/>
            <a:ext cx="4749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Incumbents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09700" y="3797300"/>
            <a:ext cx="4447540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63"/>
              </a:lnSpc>
              <a:buNone/>
            </a:pPr>
            <a:r>
              <a:rPr lang="en-US" sz="2100" dirty="0">
                <a:solidFill>
                  <a:srgbClr val="FFE4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Editors per language Licensing per publisher Fixed infra per region ₹57–738 Cr annual losses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27800" y="2768600"/>
            <a:ext cx="5232400" cy="4205883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0" dist="1905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85000" y="3225800"/>
            <a:ext cx="4749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tap2news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85000" y="3797300"/>
            <a:ext cx="4447540" cy="230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63"/>
              </a:lnSpc>
              <a:buNone/>
            </a:pPr>
            <a:r>
              <a:rPr lang="en-US" sz="2100" dirty="0">
                <a:solidFill>
                  <a:srgbClr val="1E2C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₹0.09/story Gemini rewrite Free RSS + GDELT + govt sources Serverless — cost follows usage New language = config, not headcount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03101" y="2768600"/>
            <a:ext cx="5232400" cy="4205883"/>
          </a:xfrm>
          <a:prstGeom prst="roundRect">
            <a:avLst>
              <a:gd name="adj" fmla="val 452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560301" y="3225800"/>
            <a:ext cx="4749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result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60301" y="3797300"/>
            <a:ext cx="4447540" cy="275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63"/>
              </a:lnSpc>
              <a:buNone/>
            </a:pPr>
            <a:r>
              <a:rPr lang="en-US" sz="2100" dirty="0">
                <a:solidFill>
                  <a:srgbClr val="FFE4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Gross-margin positive per reader from early scale Break-even at a fraction of their DAU Every VC rupee buys growth, not payroll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4141C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ROADMAP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1605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Telugu first, then the map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4800"/>
            <a:ext cx="57150" cy="2060575"/>
          </a:xfrm>
          <a:prstGeom prst="rect">
            <a:avLst/>
          </a:prstGeom>
          <a:solidFill>
            <a:srgbClr val="E11B22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844800"/>
            <a:ext cx="36042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4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0650" y="3276600"/>
            <a:ext cx="3604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Telugu launch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90650" y="3790950"/>
            <a:ext cx="337489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77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 + Telangana, 26 districts, full utility suite. Target 1M MAU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048250" y="2844800"/>
            <a:ext cx="57150" cy="2060575"/>
          </a:xfrm>
          <a:prstGeom prst="rect">
            <a:avLst/>
          </a:prstGeom>
          <a:solidFill>
            <a:srgbClr val="B4BCC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844800"/>
            <a:ext cx="36042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2027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3276600"/>
            <a:ext cx="3604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4 languages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0" y="3790950"/>
            <a:ext cx="337489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77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Tamil, Hindi (GPS), Kannada. Citizen-reporter network. 10M MAU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0" y="2844800"/>
            <a:ext cx="57150" cy="2060575"/>
          </a:xfrm>
          <a:prstGeom prst="rect">
            <a:avLst/>
          </a:prstGeom>
          <a:solidFill>
            <a:srgbClr val="B4BCCB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150" y="2844800"/>
            <a:ext cx="36042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2027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82150" y="3276600"/>
            <a:ext cx="3604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Monetization 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82150" y="3790950"/>
            <a:ext cx="337489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77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Plus tier, hyperlocal ad marketplace, e-paper. 25M MAU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239750" y="2844800"/>
            <a:ext cx="57150" cy="2060575"/>
          </a:xfrm>
          <a:prstGeom prst="rect">
            <a:avLst/>
          </a:prstGeom>
          <a:solidFill>
            <a:srgbClr val="B4BCCB"/>
          </a:solidFill>
          <a:ln/>
        </p:spPr>
      </p:sp>
      <p:sp>
        <p:nvSpPr>
          <p:cNvPr id="17" name="Text 15"/>
          <p:cNvSpPr/>
          <p:nvPr/>
        </p:nvSpPr>
        <p:spPr>
          <a:xfrm>
            <a:off x="13677900" y="2844800"/>
            <a:ext cx="36042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677900" y="3276600"/>
            <a:ext cx="3604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50M readers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677900" y="3790950"/>
            <a:ext cx="337489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77"/>
              </a:lnSpc>
              <a:buNone/>
            </a:pPr>
            <a:r>
              <a:rPr lang="en-US" sz="1950" dirty="0">
                <a:solidFill>
                  <a:srgbClr val="4A56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8+ languages, video shorts, break-even economics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558455"/>
            <a:ext cx="180213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4200" b="1" spc="-84" kern="0" dirty="0">
                <a:solidFill>
                  <a:srgbClr val="EC5049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tap2</a:t>
            </a:r>
            <a:pPr algn="l" indent="0" marL="0">
              <a:lnSpc>
                <a:spcPct val="9032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news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3549055"/>
            <a:ext cx="14716125" cy="17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35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Anek Latin" pitchFamily="34" charset="0"/>
                <a:ea typeface="Anek Latin" pitchFamily="34" charset="-122"/>
                <a:cs typeface="Anek Latin" pitchFamily="34" charset="-120"/>
              </a:rPr>
              <a:t>The next 500M readers won't read English. We're built for them.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5766396"/>
            <a:ext cx="117729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400" dirty="0">
                <a:solidFill>
                  <a:srgbClr val="B4BC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Raising seed to launch Telugu, prove the ₹0.09-per-story model, and reach the first million readers.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7366596"/>
            <a:ext cx="18021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C97A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hello@tap2news.in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2026-07-14T19:10:48Z</dcterms:created>
  <dcterms:modified xsi:type="dcterms:W3CDTF">2026-07-14T19:10:48Z</dcterms:modified>
</cp:coreProperties>
</file>